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26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E6A72"/>
                </a:solidFill>
                <a:latin typeface="Aptos"/>
              </a:defRPr>
            </a:pPr>
            <a:r>
              <a:t>Helm Proactive Work Protocol V1 | Internal Only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841248"/>
            <a:ext cx="10972800" cy="4919472"/>
          </a:xfrm>
          <a:prstGeom prst="roundRect">
            <a:avLst/>
          </a:prstGeom>
          <a:solidFill>
            <a:srgbClr val="FFFCF8"/>
          </a:solidFill>
          <a:ln>
            <a:solidFill>
              <a:srgbClr val="D6C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09560" y="841248"/>
            <a:ext cx="3703320" cy="4919472"/>
          </a:xfrm>
          <a:prstGeom prst="rect">
            <a:avLst/>
          </a:prstGeom>
          <a:solidFill>
            <a:srgbClr val="26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188720"/>
            <a:ext cx="6355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5232C"/>
                </a:solidFill>
                <a:latin typeface="Aptos Display"/>
              </a:defRPr>
            </a:pPr>
            <a:r>
              <a:t>Helm 主动工作机制与人机协作协议 V1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6217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E6A72"/>
                </a:solidFill>
                <a:latin typeface="Aptos"/>
              </a:defRPr>
            </a:pPr>
            <a:r>
              <a:t>把 Helm 从“信息展示工作台”推进为“持续经营的 AI 中枢”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32588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使用场景：产品评审、内部对齐、项目 Kick Off、方案汇报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会议目标：统一 Helm 主动性边界、汇报协议、执行权限和人机协作模式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078224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64F78"/>
                </a:solidFill>
                <a:latin typeface="Aptos"/>
              </a:defRPr>
            </a:pPr>
            <a:r>
              <a:t>目标不是更多自动化，而是更清晰的主动性边界与更稳的人机协作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26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E6A72"/>
                </a:solidFill>
                <a:latin typeface="Aptos"/>
              </a:defRPr>
            </a:pPr>
            <a:r>
              <a:t>Helm Proactive Work Protocol V1 | Internal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21240" y="438912"/>
            <a:ext cx="1645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64F78"/>
                </a:solidFill>
                <a:latin typeface="Aptos"/>
              </a:defRPr>
            </a:pPr>
            <a:r>
              <a:t>ACTIVE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"/>
            <a:ext cx="10287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5232C"/>
                </a:solidFill>
                <a:latin typeface="Aptos Display"/>
              </a:defRPr>
            </a:pPr>
            <a:r>
              <a:t>为什么需要这份协议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1005840" cy="54864"/>
          </a:xfrm>
          <a:prstGeom prst="rect">
            <a:avLst/>
          </a:prstGeom>
          <a:solidFill>
            <a:srgbClr val="B37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67512" y="1682496"/>
            <a:ext cx="10917936" cy="4389120"/>
          </a:xfrm>
          <a:prstGeom prst="roundRect">
            <a:avLst/>
          </a:prstGeom>
          <a:solidFill>
            <a:srgbClr val="FFFCF8"/>
          </a:solidFill>
          <a:ln>
            <a:solidFill>
              <a:srgbClr val="D6C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10698480" cy="4160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000">
                <a:solidFill>
                  <a:srgbClr val="15232C"/>
                </a:solidFill>
                <a:latin typeface="Aptos"/>
              </a:defRPr>
            </a:pPr>
            <a:r>
              <a:t>• 让 Helm 从被动展示信息，升级为主动感知、主动准备、主动推进、主动汇报的经营主体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000">
                <a:solidFill>
                  <a:srgbClr val="15232C"/>
                </a:solidFill>
                <a:latin typeface="Aptos"/>
              </a:defRPr>
            </a:pPr>
            <a:r>
              <a:t>• 让人从“先筛信息再判断”，升级为“在 Helm 已完成一轮理解和准备后拍板与授权”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000">
                <a:solidFill>
                  <a:srgbClr val="15232C"/>
                </a:solidFill>
                <a:latin typeface="Aptos"/>
              </a:defRPr>
            </a:pPr>
            <a:r>
              <a:t>• 让主动性始终处于可治理、可审计、可回放、可复盘的边界内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000">
                <a:solidFill>
                  <a:srgbClr val="15232C"/>
                </a:solidFill>
                <a:latin typeface="Aptos"/>
              </a:defRPr>
            </a:pPr>
            <a:r>
              <a:t>• 把 reporting protocol、decision-first IA 和主动执行边界收成同一套语言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26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E6A72"/>
                </a:solidFill>
                <a:latin typeface="Aptos"/>
              </a:defRPr>
            </a:pPr>
            <a:r>
              <a:t>Helm Proactive Work Protocol V1 | Internal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21240" y="438912"/>
            <a:ext cx="1645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64F78"/>
                </a:solidFill>
                <a:latin typeface="Aptos"/>
              </a:defRPr>
            </a:pPr>
            <a:r>
              <a:t>ACTIVE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"/>
            <a:ext cx="10287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5232C"/>
                </a:solidFill>
                <a:latin typeface="Aptos Display"/>
              </a:defRPr>
            </a:pPr>
            <a:r>
              <a:t>Helm 是什么，不是什么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1005840" cy="54864"/>
          </a:xfrm>
          <a:prstGeom prst="rect">
            <a:avLst/>
          </a:prstGeom>
          <a:solidFill>
            <a:srgbClr val="B37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67512" y="1682496"/>
            <a:ext cx="10917936" cy="4389120"/>
          </a:xfrm>
          <a:prstGeom prst="roundRect">
            <a:avLst/>
          </a:prstGeom>
          <a:solidFill>
            <a:srgbClr val="FFFCF8"/>
          </a:solidFill>
          <a:ln>
            <a:solidFill>
              <a:srgbClr val="D6C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10698480" cy="4160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000">
                <a:solidFill>
                  <a:srgbClr val="15232C"/>
                </a:solidFill>
                <a:latin typeface="Aptos"/>
              </a:defRPr>
            </a:pPr>
            <a:r>
              <a:t>• Helm 是持续经营的 AI 中枢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000">
                <a:solidFill>
                  <a:srgbClr val="15232C"/>
                </a:solidFill>
                <a:latin typeface="Aptos"/>
              </a:defRPr>
            </a:pPr>
            <a:r>
              <a:t>• 它负责感知变化、形成判断、组织 worker、向人汇报、在边界内推进、在必要时升级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000">
                <a:solidFill>
                  <a:srgbClr val="15232C"/>
                </a:solidFill>
                <a:latin typeface="Aptos"/>
              </a:defRPr>
            </a:pPr>
            <a:r>
              <a:t>• 它不只是工作台，也不只是问答式助手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000">
                <a:solidFill>
                  <a:srgbClr val="15232C"/>
                </a:solidFill>
                <a:latin typeface="Aptos"/>
              </a:defRPr>
            </a:pPr>
            <a:r>
              <a:t>• 它的责任不是“展示很多信息”，而是“让事情持续被推进且关键边界始终可见”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26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E6A72"/>
                </a:solidFill>
                <a:latin typeface="Aptos"/>
              </a:defRPr>
            </a:pPr>
            <a:r>
              <a:t>Helm Proactive Work Protocol V1 | Internal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21240" y="438912"/>
            <a:ext cx="1645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64F78"/>
                </a:solidFill>
                <a:latin typeface="Aptos"/>
              </a:defRPr>
            </a:pPr>
            <a:r>
              <a:t>ACTIVE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"/>
            <a:ext cx="10287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5232C"/>
                </a:solidFill>
                <a:latin typeface="Aptos Display"/>
              </a:defRPr>
            </a:pPr>
            <a:r>
              <a:t>Helm 的主动工作机制分六层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1005840" cy="54864"/>
          </a:xfrm>
          <a:prstGeom prst="rect">
            <a:avLst/>
          </a:prstGeom>
          <a:solidFill>
            <a:srgbClr val="B37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67512" y="1682496"/>
            <a:ext cx="10917936" cy="4389120"/>
          </a:xfrm>
          <a:prstGeom prst="roundRect">
            <a:avLst/>
          </a:prstGeom>
          <a:solidFill>
            <a:srgbClr val="FFFCF8"/>
          </a:solidFill>
          <a:ln>
            <a:solidFill>
              <a:srgbClr val="D6C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10698480" cy="4160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000">
                <a:solidFill>
                  <a:srgbClr val="15232C"/>
                </a:solidFill>
                <a:latin typeface="Aptos"/>
              </a:defRPr>
            </a:pPr>
            <a:r>
              <a:t>• 主动观察：持续扫描经营变化，形成状态感知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000">
                <a:solidFill>
                  <a:srgbClr val="15232C"/>
                </a:solidFill>
                <a:latin typeface="Aptos"/>
              </a:defRPr>
            </a:pPr>
            <a:r>
              <a:t>• 主动判断：解释变化，形成 Current Judgement 与 Priority Signal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000">
                <a:solidFill>
                  <a:srgbClr val="15232C"/>
                </a:solidFill>
                <a:latin typeface="Aptos"/>
              </a:defRPr>
            </a:pPr>
            <a:r>
              <a:t>• 主动准备：先生成 draft、summary、checklist、review note 等 internal-only 产物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000">
                <a:solidFill>
                  <a:srgbClr val="15232C"/>
                </a:solidFill>
                <a:latin typeface="Aptos"/>
              </a:defRPr>
            </a:pPr>
            <a:r>
              <a:t>• 主动推进：在低风险边界内推进 internal task 与 review 流转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000">
                <a:solidFill>
                  <a:srgbClr val="15232C"/>
                </a:solidFill>
                <a:latin typeface="Aptos"/>
              </a:defRPr>
            </a:pPr>
            <a:r>
              <a:t>• 主动汇报：在关键时点主动向人汇报，而不是等人来找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000">
                <a:solidFill>
                  <a:srgbClr val="15232C"/>
                </a:solidFill>
                <a:latin typeface="Aptos"/>
              </a:defRPr>
            </a:pPr>
            <a:r>
              <a:t>• 主动协作：把事项送到合适的人或 worker 面前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26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E6A72"/>
                </a:solidFill>
                <a:latin typeface="Aptos"/>
              </a:defRPr>
            </a:pPr>
            <a:r>
              <a:t>Helm Proactive Work Protocol V1 | Internal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21240" y="438912"/>
            <a:ext cx="1645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64F78"/>
                </a:solidFill>
                <a:latin typeface="Aptos"/>
              </a:defRPr>
            </a:pPr>
            <a:r>
              <a:t>ACTIVE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"/>
            <a:ext cx="10287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5232C"/>
                </a:solidFill>
                <a:latin typeface="Aptos Display"/>
              </a:defRPr>
            </a:pPr>
            <a:r>
              <a:t>Helm 与人如何分工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1005840" cy="54864"/>
          </a:xfrm>
          <a:prstGeom prst="rect">
            <a:avLst/>
          </a:prstGeom>
          <a:solidFill>
            <a:srgbClr val="B37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67512" y="1682496"/>
            <a:ext cx="10917936" cy="4389120"/>
          </a:xfrm>
          <a:prstGeom prst="roundRect">
            <a:avLst/>
          </a:prstGeom>
          <a:solidFill>
            <a:srgbClr val="FFFCF8"/>
          </a:solidFill>
          <a:ln>
            <a:solidFill>
              <a:srgbClr val="D6C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10698480" cy="4160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000">
                <a:solidFill>
                  <a:srgbClr val="15232C"/>
                </a:solidFill>
                <a:latin typeface="Aptos"/>
              </a:defRPr>
            </a:pPr>
            <a:r>
              <a:t>• 模式一：Helm 推进，人类监督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000">
                <a:solidFill>
                  <a:srgbClr val="15232C"/>
                </a:solidFill>
                <a:latin typeface="Aptos"/>
              </a:defRPr>
            </a:pPr>
            <a:r>
              <a:t>• 模式二：Helm 准备，人类拍板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000">
                <a:solidFill>
                  <a:srgbClr val="15232C"/>
                </a:solidFill>
                <a:latin typeface="Aptos"/>
              </a:defRPr>
            </a:pPr>
            <a:r>
              <a:t>• 模式三：Helm 提醒，人类主导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000">
                <a:solidFill>
                  <a:srgbClr val="15232C"/>
                </a:solidFill>
                <a:latin typeface="Aptos"/>
              </a:defRPr>
            </a:pPr>
            <a:r>
              <a:t>• 默认主模式应是“Helm 准备，人类拍板”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000">
                <a:solidFill>
                  <a:srgbClr val="15232C"/>
                </a:solidFill>
                <a:latin typeface="Aptos"/>
              </a:defRPr>
            </a:pPr>
            <a:r>
              <a:t>• 风险越高、承诺越强、权限越敏感，人类主导程度越高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26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E6A72"/>
                </a:solidFill>
                <a:latin typeface="Aptos"/>
              </a:defRPr>
            </a:pPr>
            <a:r>
              <a:t>Helm Proactive Work Protocol V1 | Internal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21240" y="438912"/>
            <a:ext cx="1645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64F78"/>
                </a:solidFill>
                <a:latin typeface="Aptos"/>
              </a:defRPr>
            </a:pPr>
            <a:r>
              <a:t>ACTIVE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"/>
            <a:ext cx="10287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5232C"/>
                </a:solidFill>
                <a:latin typeface="Aptos Display"/>
              </a:defRPr>
            </a:pPr>
            <a:r>
              <a:t>什么可以主动做，什么必须停手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1005840" cy="54864"/>
          </a:xfrm>
          <a:prstGeom prst="rect">
            <a:avLst/>
          </a:prstGeom>
          <a:solidFill>
            <a:srgbClr val="B37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67512" y="1682496"/>
            <a:ext cx="10917936" cy="4389120"/>
          </a:xfrm>
          <a:prstGeom prst="roundRect">
            <a:avLst/>
          </a:prstGeom>
          <a:solidFill>
            <a:srgbClr val="FFFCF8"/>
          </a:solidFill>
          <a:ln>
            <a:solidFill>
              <a:srgbClr val="D6C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10698480" cy="4160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000">
                <a:solidFill>
                  <a:srgbClr val="15232C"/>
                </a:solidFill>
                <a:latin typeface="Aptos"/>
              </a:defRPr>
            </a:pPr>
            <a:r>
              <a:t>• 默认允许：观察变化、生成判断、internal draft、next-step suggestion、协作请求、证据汇总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000">
                <a:solidFill>
                  <a:srgbClr val="15232C"/>
                </a:solidFill>
                <a:latin typeface="Aptos"/>
              </a:defRPr>
            </a:pPr>
            <a:r>
              <a:t>• 默认禁止：高承诺客户文本、绕过 review 的 customer-facing 内容、越权修改高敏感状态、把 recommendation 直接升级为 commitment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000">
                <a:solidFill>
                  <a:srgbClr val="15232C"/>
                </a:solidFill>
                <a:latin typeface="Aptos"/>
              </a:defRPr>
            </a:pPr>
            <a:r>
              <a:t>• 需要人工确认：proposal 发送、customer-visible commitment 强化、重大边界变化后的对外表达、高风险 escalation 定级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5449824"/>
            <a:ext cx="2651760" cy="566928"/>
          </a:xfrm>
          <a:prstGeom prst="roundRect">
            <a:avLst/>
          </a:prstGeom>
          <a:solidFill>
            <a:srgbClr val="26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Aptos"/>
              </a:defRPr>
            </a:pPr>
            <a:r>
              <a:t>有治理，才有主动性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26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E6A72"/>
                </a:solidFill>
                <a:latin typeface="Aptos"/>
              </a:defRPr>
            </a:pPr>
            <a:r>
              <a:t>Helm Proactive Work Protocol V1 | Internal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21240" y="438912"/>
            <a:ext cx="1645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64F78"/>
                </a:solidFill>
                <a:latin typeface="Aptos"/>
              </a:defRPr>
            </a:pPr>
            <a:r>
              <a:t>ACTIVE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"/>
            <a:ext cx="10287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5232C"/>
                </a:solidFill>
                <a:latin typeface="Aptos Display"/>
              </a:defRPr>
            </a:pPr>
            <a:r>
              <a:t>核心页面默认先按同一套汇报协议组织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1005840" cy="54864"/>
          </a:xfrm>
          <a:prstGeom prst="rect">
            <a:avLst/>
          </a:prstGeom>
          <a:solidFill>
            <a:srgbClr val="B37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67512" y="1682496"/>
            <a:ext cx="10917936" cy="4389120"/>
          </a:xfrm>
          <a:prstGeom prst="roundRect">
            <a:avLst/>
          </a:prstGeom>
          <a:solidFill>
            <a:srgbClr val="FFFCF8"/>
          </a:solidFill>
          <a:ln>
            <a:solidFill>
              <a:srgbClr val="D6C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10698480" cy="4160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000">
                <a:solidFill>
                  <a:srgbClr val="15232C"/>
                </a:solidFill>
                <a:latin typeface="Aptos"/>
              </a:defRPr>
            </a:pPr>
            <a:r>
              <a:t>• Current Judgement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000">
                <a:solidFill>
                  <a:srgbClr val="15232C"/>
                </a:solidFill>
                <a:latin typeface="Aptos"/>
              </a:defRPr>
            </a:pPr>
            <a:r>
              <a:t>• Why it matters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000">
                <a:solidFill>
                  <a:srgbClr val="15232C"/>
                </a:solidFill>
                <a:latin typeface="Aptos"/>
              </a:defRPr>
            </a:pPr>
            <a:r>
              <a:t>• What Helm already did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000">
                <a:solidFill>
                  <a:srgbClr val="15232C"/>
                </a:solidFill>
                <a:latin typeface="Aptos"/>
              </a:defRPr>
            </a:pPr>
            <a:r>
              <a:t>• What needs your decision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000">
                <a:solidFill>
                  <a:srgbClr val="15232C"/>
                </a:solidFill>
                <a:latin typeface="Aptos"/>
              </a:defRPr>
            </a:pPr>
            <a:r>
              <a:t>• Available next actions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000">
                <a:solidFill>
                  <a:srgbClr val="15232C"/>
                </a:solidFill>
                <a:latin typeface="Aptos"/>
              </a:defRPr>
            </a:pPr>
            <a:r>
              <a:t>• Evidence drawer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000">
                <a:solidFill>
                  <a:srgbClr val="15232C"/>
                </a:solidFill>
                <a:latin typeface="Aptos"/>
              </a:defRPr>
            </a:pPr>
            <a:r>
              <a:t>• 页面原语统一为 Judgement、Action、Boundary、Evidence、Worker assignment、Escalation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26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E6A72"/>
                </a:solidFill>
                <a:latin typeface="Aptos"/>
              </a:defRPr>
            </a:pPr>
            <a:r>
              <a:t>Helm Proactive Work Protocol V1 | Internal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21240" y="438912"/>
            <a:ext cx="1645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64F78"/>
                </a:solidFill>
                <a:latin typeface="Aptos"/>
              </a:defRPr>
            </a:pPr>
            <a:r>
              <a:t>ACTIVE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"/>
            <a:ext cx="10287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5232C"/>
                </a:solidFill>
                <a:latin typeface="Aptos Display"/>
              </a:defRPr>
            </a:pPr>
            <a:r>
              <a:t>Helm、Worker、Skill 的关系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1005840" cy="54864"/>
          </a:xfrm>
          <a:prstGeom prst="rect">
            <a:avLst/>
          </a:prstGeom>
          <a:solidFill>
            <a:srgbClr val="B37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67512" y="1682496"/>
            <a:ext cx="10917936" cy="4389120"/>
          </a:xfrm>
          <a:prstGeom prst="roundRect">
            <a:avLst/>
          </a:prstGeom>
          <a:solidFill>
            <a:srgbClr val="FFFCF8"/>
          </a:solidFill>
          <a:ln>
            <a:solidFill>
              <a:srgbClr val="D6C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10698480" cy="4160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000">
                <a:solidFill>
                  <a:srgbClr val="15232C"/>
                </a:solidFill>
                <a:latin typeface="Aptos"/>
              </a:defRPr>
            </a:pPr>
            <a:r>
              <a:t>• Helm 是总负责人：判断、排序、指派、边界控制、升级和汇报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000">
                <a:solidFill>
                  <a:srgbClr val="15232C"/>
                </a:solidFill>
                <a:latin typeface="Aptos"/>
              </a:defRPr>
            </a:pPr>
            <a:r>
              <a:t>• Worker 是岗位化执行单元：输出草稿、摘要、说明、建议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000">
                <a:solidFill>
                  <a:srgbClr val="15232C"/>
                </a:solidFill>
                <a:latin typeface="Aptos"/>
              </a:defRPr>
            </a:pPr>
            <a:r>
              <a:t>• Skill 是能力单元：完成具体能力动作，接入资源，被治理控制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000">
                <a:solidFill>
                  <a:srgbClr val="15232C"/>
                </a:solidFill>
                <a:latin typeface="Aptos"/>
              </a:defRPr>
            </a:pPr>
            <a:r>
              <a:t>• 用户不应先去找 skill，而应先看到 Helm 的汇报，再看到谁介入、完成了什么、是否需要人工接手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26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E6A72"/>
                </a:solidFill>
                <a:latin typeface="Aptos"/>
              </a:defRPr>
            </a:pPr>
            <a:r>
              <a:t>Helm Proactive Work Protocol V1 | Internal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21240" y="438912"/>
            <a:ext cx="1645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64F78"/>
                </a:solidFill>
                <a:latin typeface="Aptos"/>
              </a:defRPr>
            </a:pPr>
            <a:r>
              <a:t>ACTIVE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"/>
            <a:ext cx="10287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5232C"/>
                </a:solidFill>
                <a:latin typeface="Aptos Display"/>
              </a:defRPr>
            </a:pPr>
            <a:r>
              <a:t>为避免 Helm 失控，必须固定四个检查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1005840" cy="54864"/>
          </a:xfrm>
          <a:prstGeom prst="rect">
            <a:avLst/>
          </a:prstGeom>
          <a:solidFill>
            <a:srgbClr val="B37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67512" y="1682496"/>
            <a:ext cx="10917936" cy="4389120"/>
          </a:xfrm>
          <a:prstGeom prst="roundRect">
            <a:avLst/>
          </a:prstGeom>
          <a:solidFill>
            <a:srgbClr val="FFFCF8"/>
          </a:solidFill>
          <a:ln>
            <a:solidFill>
              <a:srgbClr val="D6C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10698480" cy="4160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000">
                <a:solidFill>
                  <a:srgbClr val="15232C"/>
                </a:solidFill>
                <a:latin typeface="Aptos"/>
              </a:defRPr>
            </a:pPr>
            <a:r>
              <a:t>• Commitment Check：当前输出是 recommendation、proposal 还是 commitment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000">
                <a:solidFill>
                  <a:srgbClr val="15232C"/>
                </a:solidFill>
                <a:latin typeface="Aptos"/>
              </a:defRPr>
            </a:pPr>
            <a:r>
              <a:t>• Audience Check：当前内容是 internal-only、role-specific 还是 customer-visible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000">
                <a:solidFill>
                  <a:srgbClr val="15232C"/>
                </a:solidFill>
                <a:latin typeface="Aptos"/>
              </a:defRPr>
            </a:pPr>
            <a:r>
              <a:t>• Boundary Check：是否存在 prerequisite、dependency、risk、authority gap、review requirement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000">
                <a:solidFill>
                  <a:srgbClr val="15232C"/>
                </a:solidFill>
                <a:latin typeface="Aptos"/>
              </a:defRPr>
            </a:pPr>
            <a:r>
              <a:t>• Execution Check：当前动作处在 observe、prepare、suggest、escalate、execute 哪一层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5449824"/>
            <a:ext cx="2651760" cy="566928"/>
          </a:xfrm>
          <a:prstGeom prst="roundRect">
            <a:avLst/>
          </a:prstGeom>
          <a:solidFill>
            <a:srgbClr val="26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Aptos"/>
              </a:defRPr>
            </a:pPr>
            <a:r>
              <a:t>四个 Check 决定能不能继续执行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26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E6A72"/>
                </a:solidFill>
                <a:latin typeface="Aptos"/>
              </a:defRPr>
            </a:pPr>
            <a:r>
              <a:t>Helm Proactive Work Protocol V1 | Internal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21240" y="438912"/>
            <a:ext cx="1645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64F78"/>
                </a:solidFill>
                <a:latin typeface="Aptos"/>
              </a:defRPr>
            </a:pPr>
            <a:r>
              <a:t>ACTIVE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"/>
            <a:ext cx="10287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5232C"/>
                </a:solidFill>
                <a:latin typeface="Aptos Display"/>
              </a:defRPr>
            </a:pPr>
            <a:r>
              <a:t>Helm 何时主动汇报，以及怎么说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1005840" cy="54864"/>
          </a:xfrm>
          <a:prstGeom prst="rect">
            <a:avLst/>
          </a:prstGeom>
          <a:solidFill>
            <a:srgbClr val="B37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67512" y="1682496"/>
            <a:ext cx="10917936" cy="4389120"/>
          </a:xfrm>
          <a:prstGeom prst="roundRect">
            <a:avLst/>
          </a:prstGeom>
          <a:solidFill>
            <a:srgbClr val="FFFCF8"/>
          </a:solidFill>
          <a:ln>
            <a:solidFill>
              <a:srgbClr val="D6C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10698480" cy="4160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000">
                <a:solidFill>
                  <a:srgbClr val="15232C"/>
                </a:solidFill>
                <a:latin typeface="Aptos"/>
              </a:defRPr>
            </a:pPr>
            <a:r>
              <a:t>• recommendation 不能伪装成 commitment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000">
                <a:solidFill>
                  <a:srgbClr val="15232C"/>
                </a:solidFill>
                <a:latin typeface="Aptos"/>
              </a:defRPr>
            </a:pPr>
            <a:r>
              <a:t>• 只要存在 boundary，就必须显性可见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000">
                <a:solidFill>
                  <a:srgbClr val="15232C"/>
                </a:solidFill>
                <a:latin typeface="Aptos"/>
              </a:defRPr>
            </a:pPr>
            <a:r>
              <a:t>• internal-only 输出必须清晰标记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000">
                <a:solidFill>
                  <a:srgbClr val="15232C"/>
                </a:solidFill>
                <a:latin typeface="Aptos"/>
              </a:defRPr>
            </a:pPr>
            <a:r>
              <a:t>• customer-facing wording 必须 external-safe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000">
                <a:solidFill>
                  <a:srgbClr val="15232C"/>
                </a:solidFill>
                <a:latin typeface="Aptos"/>
              </a:defRPr>
            </a:pPr>
            <a:r>
              <a:t>• 主动触发条件包括状态变化、风险变化、阶段切换、worker 完成、长期无人处理、页面打开等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26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E6A72"/>
                </a:solidFill>
                <a:latin typeface="Aptos"/>
              </a:defRPr>
            </a:pPr>
            <a:r>
              <a:t>Helm Proactive Work Protocol V1 | Internal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21240" y="438912"/>
            <a:ext cx="1645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64F78"/>
                </a:solidFill>
                <a:latin typeface="Aptos"/>
              </a:defRPr>
            </a:pPr>
            <a:r>
              <a:t>ACTIVE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"/>
            <a:ext cx="10287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5232C"/>
                </a:solidFill>
                <a:latin typeface="Aptos Display"/>
              </a:defRPr>
            </a:pPr>
            <a:r>
              <a:t>本阶段主动性不等于全面自动化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1005840" cy="54864"/>
          </a:xfrm>
          <a:prstGeom prst="rect">
            <a:avLst/>
          </a:prstGeom>
          <a:solidFill>
            <a:srgbClr val="B37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67512" y="1682496"/>
            <a:ext cx="10917936" cy="4389120"/>
          </a:xfrm>
          <a:prstGeom prst="roundRect">
            <a:avLst/>
          </a:prstGeom>
          <a:solidFill>
            <a:srgbClr val="FFFCF8"/>
          </a:solidFill>
          <a:ln>
            <a:solidFill>
              <a:srgbClr val="D6C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10698480" cy="4160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000">
                <a:solidFill>
                  <a:srgbClr val="15232C"/>
                </a:solidFill>
                <a:latin typeface="Aptos"/>
              </a:defRPr>
            </a:pPr>
            <a:r>
              <a:t>• 不做完整自动执行平面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000">
                <a:solidFill>
                  <a:srgbClr val="15232C"/>
                </a:solidFill>
                <a:latin typeface="Aptos"/>
              </a:defRPr>
            </a:pPr>
            <a:r>
              <a:t>• 不做完整消息编排平台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000">
                <a:solidFill>
                  <a:srgbClr val="15232C"/>
                </a:solidFill>
                <a:latin typeface="Aptos"/>
              </a:defRPr>
            </a:pPr>
            <a:r>
              <a:t>• 不做完整 workflow engine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000">
                <a:solidFill>
                  <a:srgbClr val="15232C"/>
                </a:solidFill>
                <a:latin typeface="Aptos"/>
              </a:defRPr>
            </a:pPr>
            <a:r>
              <a:t>• 不做完整 enterprise IAM / org admin / sandbox runtime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000">
                <a:solidFill>
                  <a:srgbClr val="15232C"/>
                </a:solidFill>
                <a:latin typeface="Aptos"/>
              </a:defRPr>
            </a:pPr>
            <a:r>
              <a:t>• 不做完整 CRM / ERP / project management 平台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000">
                <a:solidFill>
                  <a:srgbClr val="15232C"/>
                </a:solidFill>
                <a:latin typeface="Aptos"/>
              </a:defRPr>
            </a:pPr>
            <a:r>
              <a:t>• 当前价值是“会主动工作，但仍可治理、可停手、可解释”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5449824"/>
            <a:ext cx="2651760" cy="566928"/>
          </a:xfrm>
          <a:prstGeom prst="roundRect">
            <a:avLst/>
          </a:prstGeom>
          <a:solidFill>
            <a:srgbClr val="26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Aptos"/>
              </a:defRPr>
            </a:pPr>
            <a:r>
              <a:t>主动性不等于全面自动化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26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E6A72"/>
                </a:solidFill>
                <a:latin typeface="Aptos"/>
              </a:defRPr>
            </a:pPr>
            <a:r>
              <a:t>Helm Proactive Work Protocol V1 | Internal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21240" y="438912"/>
            <a:ext cx="1645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64F78"/>
                </a:solidFill>
                <a:latin typeface="Aptos"/>
              </a:defRPr>
            </a:pPr>
            <a:r>
              <a:t>ACTIVE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"/>
            <a:ext cx="10287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5232C"/>
                </a:solidFill>
                <a:latin typeface="Aptos Display"/>
              </a:defRPr>
            </a:pPr>
            <a:r>
              <a:t>建议按四批推进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1005840" cy="54864"/>
          </a:xfrm>
          <a:prstGeom prst="rect">
            <a:avLst/>
          </a:prstGeom>
          <a:solidFill>
            <a:srgbClr val="B37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67512" y="1682496"/>
            <a:ext cx="10917936" cy="4389120"/>
          </a:xfrm>
          <a:prstGeom prst="roundRect">
            <a:avLst/>
          </a:prstGeom>
          <a:solidFill>
            <a:srgbClr val="FFFCF8"/>
          </a:solidFill>
          <a:ln>
            <a:solidFill>
              <a:srgbClr val="D6C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10698480" cy="4160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000">
                <a:solidFill>
                  <a:srgbClr val="15232C"/>
                </a:solidFill>
                <a:latin typeface="Aptos"/>
              </a:defRPr>
            </a:pPr>
            <a:r>
              <a:t>• 第一批：Helm Reporting Protocol、Decision-first IA、首页 / proposal 页 / review 页重构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000">
                <a:solidFill>
                  <a:srgbClr val="15232C"/>
                </a:solidFill>
                <a:latin typeface="Aptos"/>
              </a:defRPr>
            </a:pPr>
            <a:r>
              <a:t>• 第二批：主动汇报机制、主动拍板请求、主动 worker assignment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000">
                <a:solidFill>
                  <a:srgbClr val="15232C"/>
                </a:solidFill>
                <a:latin typeface="Aptos"/>
              </a:defRPr>
            </a:pPr>
            <a:r>
              <a:t>• 第三批：主动协作机制、主动 escalation、主动执行白名单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000">
                <a:solidFill>
                  <a:srgbClr val="15232C"/>
                </a:solidFill>
                <a:latin typeface="Aptos"/>
              </a:defRPr>
            </a:pPr>
            <a:r>
              <a:t>• 第四批：更细的主动运营规则、更细的 worker / skill / resource 协议、更强场景化自动推进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26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E6A72"/>
                </a:solidFill>
                <a:latin typeface="Aptos"/>
              </a:defRPr>
            </a:pPr>
            <a:r>
              <a:t>Helm Proactive Work Protocol V1 | Internal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21240" y="438912"/>
            <a:ext cx="1645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64F78"/>
                </a:solidFill>
                <a:latin typeface="Aptos"/>
              </a:defRPr>
            </a:pPr>
            <a:r>
              <a:t>ACTIVE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"/>
            <a:ext cx="10287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5232C"/>
                </a:solidFill>
                <a:latin typeface="Aptos Display"/>
              </a:defRPr>
            </a:pPr>
            <a:r>
              <a:t>协议生效后，成功不再是“展示很多信息”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1005840" cy="54864"/>
          </a:xfrm>
          <a:prstGeom prst="rect">
            <a:avLst/>
          </a:prstGeom>
          <a:solidFill>
            <a:srgbClr val="B37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67512" y="1682496"/>
            <a:ext cx="10917936" cy="4389120"/>
          </a:xfrm>
          <a:prstGeom prst="roundRect">
            <a:avLst/>
          </a:prstGeom>
          <a:solidFill>
            <a:srgbClr val="FFFCF8"/>
          </a:solidFill>
          <a:ln>
            <a:solidFill>
              <a:srgbClr val="D6C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10698480" cy="4160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000">
                <a:solidFill>
                  <a:srgbClr val="15232C"/>
                </a:solidFill>
                <a:latin typeface="Aptos"/>
              </a:defRPr>
            </a:pPr>
            <a:r>
              <a:t>• Helm 能持续感知经营变化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000">
                <a:solidFill>
                  <a:srgbClr val="15232C"/>
                </a:solidFill>
                <a:latin typeface="Aptos"/>
              </a:defRPr>
            </a:pPr>
            <a:r>
              <a:t>• Helm 能先做一轮理解与准备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000">
                <a:solidFill>
                  <a:srgbClr val="15232C"/>
                </a:solidFill>
                <a:latin typeface="Aptos"/>
              </a:defRPr>
            </a:pPr>
            <a:r>
              <a:t>• Helm 能主动汇报当前判断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000">
                <a:solidFill>
                  <a:srgbClr val="15232C"/>
                </a:solidFill>
                <a:latin typeface="Aptos"/>
              </a:defRPr>
            </a:pPr>
            <a:r>
              <a:t>• Helm 能主动把事项送到该负责的人面前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000">
                <a:solidFill>
                  <a:srgbClr val="15232C"/>
                </a:solidFill>
                <a:latin typeface="Aptos"/>
              </a:defRPr>
            </a:pPr>
            <a:r>
              <a:t>• Helm 能在边界内推进动作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000">
                <a:solidFill>
                  <a:srgbClr val="15232C"/>
                </a:solidFill>
                <a:latin typeface="Aptos"/>
              </a:defRPr>
            </a:pPr>
            <a:r>
              <a:t>• Helm 能在边界外及时停手并请求拍板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000">
                <a:solidFill>
                  <a:srgbClr val="15232C"/>
                </a:solidFill>
                <a:latin typeface="Aptos"/>
              </a:defRPr>
            </a:pPr>
            <a:r>
              <a:t>• 所有动作都能被 replay、audit、memory 接住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5449824"/>
            <a:ext cx="2651760" cy="566928"/>
          </a:xfrm>
          <a:prstGeom prst="roundRect">
            <a:avLst/>
          </a:prstGeom>
          <a:solidFill>
            <a:srgbClr val="26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Aptos"/>
              </a:defRPr>
            </a:pPr>
            <a:r>
              <a:t>成功标准要从展示转向推进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26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E6A72"/>
                </a:solidFill>
                <a:latin typeface="Aptos"/>
              </a:defRPr>
            </a:pPr>
            <a:r>
              <a:t>Helm Proactive Work Protocol V1 | Internal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21240" y="438912"/>
            <a:ext cx="1645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64F78"/>
                </a:solidFill>
                <a:latin typeface="Aptos"/>
              </a:defRPr>
            </a:pPr>
            <a:r>
              <a:t>ACTIVE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"/>
            <a:ext cx="10287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5232C"/>
                </a:solidFill>
                <a:latin typeface="Aptos Display"/>
              </a:defRPr>
            </a:pPr>
            <a:r>
              <a:t>Helm 下一阶段的核心差异，不是更会展示，而是更会主动工作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1005840" cy="54864"/>
          </a:xfrm>
          <a:prstGeom prst="rect">
            <a:avLst/>
          </a:prstGeom>
          <a:solidFill>
            <a:srgbClr val="B37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E6A72"/>
                </a:solidFill>
                <a:latin typeface="Aptos"/>
              </a:defRPr>
            </a:pPr>
            <a:r>
              <a:t>先主动观察、主动判断、主动准备、主动汇报，再在边界内推进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" y="1682496"/>
            <a:ext cx="10917936" cy="4389120"/>
          </a:xfrm>
          <a:prstGeom prst="roundRect">
            <a:avLst/>
          </a:prstGeom>
          <a:solidFill>
            <a:srgbClr val="FFFCF8"/>
          </a:solidFill>
          <a:ln>
            <a:solidFill>
              <a:srgbClr val="D6C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10698480" cy="4160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000">
                <a:solidFill>
                  <a:srgbClr val="15232C"/>
                </a:solidFill>
                <a:latin typeface="Aptos"/>
              </a:defRPr>
            </a:pPr>
            <a:r>
              <a:t>• 谢谢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000">
                <a:solidFill>
                  <a:srgbClr val="15232C"/>
                </a:solidFill>
                <a:latin typeface="Aptos"/>
              </a:defRPr>
            </a:pPr>
            <a:r>
              <a:t>•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