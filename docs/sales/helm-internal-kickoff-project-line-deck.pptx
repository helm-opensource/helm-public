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C5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E76"/>
                </a:solidFill>
                <a:latin typeface="Aptos"/>
              </a:defRPr>
            </a:pPr>
            <a:r>
              <a:t>Helm Internal Kick Off | Internal Only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22960"/>
            <a:ext cx="10972800" cy="4937760"/>
          </a:xfrm>
          <a:prstGeom prst="roundRect">
            <a:avLst/>
          </a:prstGeom>
          <a:solidFill>
            <a:srgbClr val="FFFCF7"/>
          </a:solidFill>
          <a:ln>
            <a:solidFill>
              <a:srgbClr val="D5C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5279" y="822960"/>
            <a:ext cx="3657600" cy="4937760"/>
          </a:xfrm>
          <a:prstGeom prst="rect">
            <a:avLst/>
          </a:prstGeom>
          <a:solidFill>
            <a:srgbClr val="0C5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23444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62E"/>
                </a:solidFill>
                <a:latin typeface="Aptos Display"/>
              </a:defRPr>
            </a:pPr>
            <a:r>
              <a:t>Helm 项目线内部 Kick 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6309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06E76"/>
                </a:solidFill>
                <a:latin typeface="Aptos"/>
              </a:defRPr>
            </a:pPr>
            <a:r>
              <a:t>经营分身控制台从 MVP 走向设计合作伙伴试点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325880"/>
            <a:ext cx="2971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时间：2026 Q1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会议对象：产品、研发、设计、销售、交付、管理团队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会议目标：统一项目定义、现阶段边界、推进方式和协同要求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4069080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C5C66"/>
                </a:solidFill>
                <a:latin typeface="Aptos"/>
              </a:defRPr>
            </a:pPr>
            <a:r>
              <a:t>从可演示 MVP，走向可经营的设计合作伙伴试点产品线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C5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E76"/>
                </a:solidFill>
                <a:latin typeface="Aptos"/>
              </a:defRPr>
            </a:pPr>
            <a:r>
              <a:t>Helm Internal Kick Off | Internal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438912"/>
            <a:ext cx="1554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C5C66"/>
                </a:solidFill>
                <a:latin typeface="Aptos"/>
              </a:defRPr>
            </a:pPr>
            <a:r>
              <a:t>PROJECT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62E"/>
                </a:solidFill>
                <a:latin typeface="Aptos Display"/>
              </a:defRPr>
            </a:pPr>
            <a:r>
              <a:t>今天我们对齐什么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914400" cy="54864"/>
          </a:xfrm>
          <a:prstGeom prst="rect">
            <a:avLst/>
          </a:prstGeom>
          <a:solidFill>
            <a:srgbClr val="AC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682496"/>
            <a:ext cx="10917936" cy="4389120"/>
          </a:xfrm>
          <a:prstGeom prst="roundRect">
            <a:avLst/>
          </a:prstGeom>
          <a:solidFill>
            <a:srgbClr val="FFFCF7"/>
          </a:solidFill>
          <a:ln>
            <a:solidFill>
              <a:srgbClr val="D5C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698480" cy="4160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为什么 Helm 现在值得成立项目线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Helm 在解决什么业务问题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Helm 当前产品到底是什么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当前真实进展和明确边界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接下来 90 天目标与跨团队协作方式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今天希望达成的决定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C5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E76"/>
                </a:solidFill>
                <a:latin typeface="Aptos"/>
              </a:defRPr>
            </a:pPr>
            <a:r>
              <a:t>Helm Internal Kick Off | Internal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438912"/>
            <a:ext cx="1554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C5C66"/>
                </a:solidFill>
                <a:latin typeface="Aptos"/>
              </a:defRPr>
            </a:pPr>
            <a:r>
              <a:t>PROJECT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62E"/>
                </a:solidFill>
                <a:latin typeface="Aptos Display"/>
              </a:defRPr>
            </a:pPr>
            <a:r>
              <a:t>为什么现在是 Helm 独立成线的窗口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914400" cy="54864"/>
          </a:xfrm>
          <a:prstGeom prst="rect">
            <a:avLst/>
          </a:prstGeom>
          <a:solidFill>
            <a:srgbClr val="AC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682496"/>
            <a:ext cx="10917936" cy="4389120"/>
          </a:xfrm>
          <a:prstGeom prst="roundRect">
            <a:avLst/>
          </a:prstGeom>
          <a:solidFill>
            <a:srgbClr val="FFFCF7"/>
          </a:solidFill>
          <a:ln>
            <a:solidFill>
              <a:srgbClr val="D5C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698480" cy="4160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产品已经不是纯概念：核心页面、核心流程、三条 demo 主线已经可跑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商业叙事已经开始成形：设计合作伙伴试点、付费 PoC、内部转介绍材料都有雏形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技术能力开始形成可复用主干：记忆、推荐、审批、审计、capture、导入不是孤立点功能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组织协同开始变复杂：产品、AI、前端、交付、销售如果不按项目线管理，节奏会很散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当前最需要的是统一 owner、统一优先级、统一对外口径，而不是继续碎片化推进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C5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E76"/>
                </a:solidFill>
                <a:latin typeface="Aptos"/>
              </a:defRPr>
            </a:pPr>
            <a:r>
              <a:t>Helm Internal Kick Off | Internal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438912"/>
            <a:ext cx="1554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C5C66"/>
                </a:solidFill>
                <a:latin typeface="Aptos"/>
              </a:defRPr>
            </a:pPr>
            <a:r>
              <a:t>PROJECT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62E"/>
                </a:solidFill>
                <a:latin typeface="Aptos Display"/>
              </a:defRPr>
            </a:pPr>
            <a:r>
              <a:t>Helm 要解决的，不是记录问题，而是推进问题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914400" cy="54864"/>
          </a:xfrm>
          <a:prstGeom prst="rect">
            <a:avLst/>
          </a:prstGeom>
          <a:solidFill>
            <a:srgbClr val="AC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682496"/>
            <a:ext cx="10917936" cy="4389120"/>
          </a:xfrm>
          <a:prstGeom prst="roundRect">
            <a:avLst/>
          </a:prstGeom>
          <a:solidFill>
            <a:srgbClr val="FFFCF7"/>
          </a:solidFill>
          <a:ln>
            <a:solidFill>
              <a:srgbClr val="D5C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698480" cy="4160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会议开完了，但没有形成明确下一步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邮件和消息发完了，但没有人持续盯住跟进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机会表面上还在推进，实际上已经在降温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销售、顾问、创始人和 COO 仍在靠脑子记关键事项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AI 能给建议，但不够可控，团队不敢真正放权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C5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E76"/>
                </a:solidFill>
                <a:latin typeface="Aptos"/>
              </a:defRPr>
            </a:pPr>
            <a:r>
              <a:t>Helm Internal Kick Off | Internal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438912"/>
            <a:ext cx="1554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C5C66"/>
                </a:solidFill>
                <a:latin typeface="Aptos"/>
              </a:defRPr>
            </a:pPr>
            <a:r>
              <a:t>PROJECT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62E"/>
                </a:solidFill>
                <a:latin typeface="Aptos Display"/>
              </a:defRPr>
            </a:pPr>
            <a:r>
              <a:t>Helm 是一套经营分身控制台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914400" cy="54864"/>
          </a:xfrm>
          <a:prstGeom prst="rect">
            <a:avLst/>
          </a:prstGeom>
          <a:solidFill>
            <a:srgbClr val="AC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06E76"/>
                </a:solidFill>
                <a:latin typeface="Aptos"/>
              </a:defRPr>
            </a:pPr>
            <a:r>
              <a:t>把会议、邮件、机会、审批和工作记忆收进同一个控制面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1682496"/>
            <a:ext cx="10917936" cy="4389120"/>
          </a:xfrm>
          <a:prstGeom prst="roundRect">
            <a:avLst/>
          </a:prstGeom>
          <a:solidFill>
            <a:srgbClr val="FFFCF7"/>
          </a:solidFill>
          <a:ln>
            <a:solidFill>
              <a:srgbClr val="D5C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98480" cy="4160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它是经营工作台，不是聊天机器人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它是可控行动代理控制台，不是黑盒自动化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它是审批与审计中心，不是只会给建议的 AI 助手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它是工作域长期记忆系统，不是泛个人记忆产品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它优先服务高价值职业个体和小团队，而不是一开始就做大全平台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C5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E76"/>
                </a:solidFill>
                <a:latin typeface="Aptos"/>
              </a:defRPr>
            </a:pPr>
            <a:r>
              <a:t>Helm Internal Kick Off | Internal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438912"/>
            <a:ext cx="1554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C5C66"/>
                </a:solidFill>
                <a:latin typeface="Aptos"/>
              </a:defRPr>
            </a:pPr>
            <a:r>
              <a:t>PROJECT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62E"/>
                </a:solidFill>
                <a:latin typeface="Aptos Display"/>
              </a:defRPr>
            </a:pPr>
            <a:r>
              <a:t>首批用户与主场景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914400" cy="54864"/>
          </a:xfrm>
          <a:prstGeom prst="rect">
            <a:avLst/>
          </a:prstGeom>
          <a:solidFill>
            <a:srgbClr val="AC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682496"/>
            <a:ext cx="10917936" cy="4389120"/>
          </a:xfrm>
          <a:prstGeom prst="roundRect">
            <a:avLst/>
          </a:prstGeom>
          <a:solidFill>
            <a:srgbClr val="FFFCF7"/>
          </a:solidFill>
          <a:ln>
            <a:solidFill>
              <a:srgbClr val="D5C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698480" cy="4160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企业服务销售团队：减少会后漏跟进，提升机会推进可见性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创始人 / COO / 业务负责人：获得每日经营控制面和高风险事项把控力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猎头与招聘顾问团队：减少职位推进断点和候选人流失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高客单价顾问与服务型团队：把会议、邮件、客户推进收成持续动作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当前标准 demo 已有三条主线：创始人模式、销售模式、猎头模式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C5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E76"/>
                </a:solidFill>
                <a:latin typeface="Aptos"/>
              </a:defRPr>
            </a:pPr>
            <a:r>
              <a:t>Helm Internal Kick Off | Internal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438912"/>
            <a:ext cx="1554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C5C66"/>
                </a:solidFill>
                <a:latin typeface="Aptos"/>
              </a:defRPr>
            </a:pPr>
            <a:r>
              <a:t>PROJECT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62E"/>
                </a:solidFill>
                <a:latin typeface="Aptos Display"/>
              </a:defRPr>
            </a:pPr>
            <a:r>
              <a:t>Helm 的最小闭环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914400" cy="54864"/>
          </a:xfrm>
          <a:prstGeom prst="rect">
            <a:avLst/>
          </a:prstGeom>
          <a:solidFill>
            <a:srgbClr val="AC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682496"/>
            <a:ext cx="10917936" cy="4389120"/>
          </a:xfrm>
          <a:prstGeom prst="roundRect">
            <a:avLst/>
          </a:prstGeom>
          <a:solidFill>
            <a:srgbClr val="FFFCF7"/>
          </a:solidFill>
          <a:ln>
            <a:solidFill>
              <a:srgbClr val="D5C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698480" cy="4160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首页告诉用户今天最该推进什么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会议页把 briefing、会后 action、承诺和 blocker 收成动作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审批中心把高风险 AI 动作拦在授权规则内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时间线和审计日志让每一次建议、批准、执行都可追踪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工作域记忆让联系人、公司、机会、会议和动作之间形成持续上下文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结果是：AI 不只是“会说”，而是在规则内帮助团队持续推进事情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C5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E76"/>
                </a:solidFill>
                <a:latin typeface="Aptos"/>
              </a:defRPr>
            </a:pPr>
            <a:r>
              <a:t>Helm Internal Kick Off | Internal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438912"/>
            <a:ext cx="1554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C5C66"/>
                </a:solidFill>
                <a:latin typeface="Aptos"/>
              </a:defRPr>
            </a:pPr>
            <a:r>
              <a:t>PROJECT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62E"/>
                </a:solidFill>
                <a:latin typeface="Aptos Display"/>
              </a:defRPr>
            </a:pPr>
            <a:r>
              <a:t>现在已经做到什么程度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914400" cy="54864"/>
          </a:xfrm>
          <a:prstGeom prst="rect">
            <a:avLst/>
          </a:prstGeom>
          <a:solidFill>
            <a:srgbClr val="AC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682496"/>
            <a:ext cx="10917936" cy="4389120"/>
          </a:xfrm>
          <a:prstGeom prst="roundRect">
            <a:avLst/>
          </a:prstGeom>
          <a:solidFill>
            <a:srgbClr val="FFFCF7"/>
          </a:solidFill>
          <a:ln>
            <a:solidFill>
              <a:srgbClr val="D5C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698480" cy="4160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V0 目标已经清晰：可运行、可演示、可试用的 MVP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核心页面已形成主链：工作台、机会、联系人、公司、会议、审批、收件箱、记忆、设置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三套 demo 数据已可支撑销售、招聘、创始人三条故事线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推荐、记忆、审批、审计已经形成基础闭环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Conversation Capture 已有浏览器录音 MVP、转写、insight、记忆写回和 recommendation 刷新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试点运营能力开始形成：Pilot 设置、诊断中心、双语前台、导入与 warmup 骨架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C5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E76"/>
                </a:solidFill>
                <a:latin typeface="Aptos"/>
              </a:defRPr>
            </a:pPr>
            <a:r>
              <a:t>Helm Internal Kick Off | Internal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438912"/>
            <a:ext cx="1554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C5C66"/>
                </a:solidFill>
                <a:latin typeface="Aptos"/>
              </a:defRPr>
            </a:pPr>
            <a:r>
              <a:t>PROJECT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62E"/>
                </a:solidFill>
                <a:latin typeface="Aptos Display"/>
              </a:defRPr>
            </a:pPr>
            <a:r>
              <a:t>当前边界必须讲清楚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914400" cy="54864"/>
          </a:xfrm>
          <a:prstGeom prst="rect">
            <a:avLst/>
          </a:prstGeom>
          <a:solidFill>
            <a:srgbClr val="AC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682496"/>
            <a:ext cx="10917936" cy="4389120"/>
          </a:xfrm>
          <a:prstGeom prst="roundRect">
            <a:avLst/>
          </a:prstGeom>
          <a:solidFill>
            <a:srgbClr val="FFFCF7"/>
          </a:solidFill>
          <a:ln>
            <a:solidFill>
              <a:srgbClr val="D5C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698480" cy="4160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不是通用 CRM 全量替代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不是通用邮件客户端替代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不是复杂流程引擎或多代理编排平台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不是企业级后台、真实支付或复杂金融系统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当前 AI 动作必须建立在授权、审批、审计和可追责之上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当前仍以试点与设计合作伙伴使用为主，不夸大成成熟的大规模平台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5440680"/>
            <a:ext cx="2560320" cy="566928"/>
          </a:xfrm>
          <a:prstGeom prst="roundRect">
            <a:avLst/>
          </a:prstGeom>
          <a:solidFill>
            <a:srgbClr val="0C5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边界讲清楚，项目线才不会失控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C5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E76"/>
                </a:solidFill>
                <a:latin typeface="Aptos"/>
              </a:defRPr>
            </a:pPr>
            <a:r>
              <a:t>Helm Internal Kick Off | Internal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438912"/>
            <a:ext cx="1554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C5C66"/>
                </a:solidFill>
                <a:latin typeface="Aptos"/>
              </a:defRPr>
            </a:pPr>
            <a:r>
              <a:t>PROJECT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62E"/>
                </a:solidFill>
                <a:latin typeface="Aptos Display"/>
              </a:defRPr>
            </a:pPr>
            <a:r>
              <a:t>Helm 不是单点功能，而是可复利的产品线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914400" cy="54864"/>
          </a:xfrm>
          <a:prstGeom prst="rect">
            <a:avLst/>
          </a:prstGeom>
          <a:solidFill>
            <a:srgbClr val="AC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682496"/>
            <a:ext cx="10917936" cy="4389120"/>
          </a:xfrm>
          <a:prstGeom prst="roundRect">
            <a:avLst/>
          </a:prstGeom>
          <a:solidFill>
            <a:srgbClr val="FFFCF7"/>
          </a:solidFill>
          <a:ln>
            <a:solidFill>
              <a:srgbClr val="D5C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698480" cy="4160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它同时连接产品价值、AI 能力、审批控制、工作记忆和试点交付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它面向的是愿意为“推进效率 + 可控 AI + 风险可追责”付费的高价值人群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它能沉淀出复用能力：记忆、推荐、capture、审批、审计、导入、策略控制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它天然需要产品、技术、销售、交付一起推进，适合按项目线经营而不是按零散需求拆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如果这条线成立，未来可继续走设计合作伙伴、付费 PoC、扩展包和更强控制层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5440680"/>
            <a:ext cx="2560320" cy="566928"/>
          </a:xfrm>
          <a:prstGeom prst="roundRect">
            <a:avLst/>
          </a:prstGeom>
          <a:solidFill>
            <a:srgbClr val="0C5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这是产品线，不是单点功能集合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C5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E76"/>
                </a:solidFill>
                <a:latin typeface="Aptos"/>
              </a:defRPr>
            </a:pPr>
            <a:r>
              <a:t>Helm Internal Kick Off | Internal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438912"/>
            <a:ext cx="1554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C5C66"/>
                </a:solidFill>
                <a:latin typeface="Aptos"/>
              </a:defRPr>
            </a:pPr>
            <a:r>
              <a:t>PROJECT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62E"/>
                </a:solidFill>
                <a:latin typeface="Aptos Display"/>
              </a:defRPr>
            </a:pPr>
            <a:r>
              <a:t>90 天目标与关键里程碑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914400" cy="54864"/>
          </a:xfrm>
          <a:prstGeom prst="rect">
            <a:avLst/>
          </a:prstGeom>
          <a:solidFill>
            <a:srgbClr val="AC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682496"/>
            <a:ext cx="10917936" cy="4389120"/>
          </a:xfrm>
          <a:prstGeom prst="roundRect">
            <a:avLst/>
          </a:prstGeom>
          <a:solidFill>
            <a:srgbClr val="FFFCF7"/>
          </a:solidFill>
          <a:ln>
            <a:solidFill>
              <a:srgbClr val="D5C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698480" cy="4160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第 1 阶段：把核心链路继续打磨到更稳的可演示、可试点状态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第 2 阶段：围绕 1 到 2 个核心 ICP，跑首批设计合作伙伴访谈和试点准备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第 3 阶段：把 demo 感进一步压低，把真实使用、稳定性、审批策略和记忆纠错做扎实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产品优先级继续押注四件事：首页价值感、会议到行动闭环、机会推进感、审批与审计信任感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交付上要同步准备 PoC 范围模板、试点成功标准和复盘机制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5440680"/>
            <a:ext cx="2560320" cy="566928"/>
          </a:xfrm>
          <a:prstGeom prst="roundRect">
            <a:avLst/>
          </a:prstGeom>
          <a:solidFill>
            <a:srgbClr val="0C5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目标不是功能堆叠，而是进入真实周使用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C5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E76"/>
                </a:solidFill>
                <a:latin typeface="Aptos"/>
              </a:defRPr>
            </a:pPr>
            <a:r>
              <a:t>Helm Internal Kick Off | Internal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438912"/>
            <a:ext cx="1554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C5C66"/>
                </a:solidFill>
                <a:latin typeface="Aptos"/>
              </a:defRPr>
            </a:pPr>
            <a:r>
              <a:t>PROJECT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62E"/>
                </a:solidFill>
                <a:latin typeface="Aptos Display"/>
              </a:defRPr>
            </a:pPr>
            <a:r>
              <a:t>项目线协同方式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914400" cy="54864"/>
          </a:xfrm>
          <a:prstGeom prst="rect">
            <a:avLst/>
          </a:prstGeom>
          <a:solidFill>
            <a:srgbClr val="AC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682496"/>
            <a:ext cx="10917936" cy="4389120"/>
          </a:xfrm>
          <a:prstGeom prst="roundRect">
            <a:avLst/>
          </a:prstGeom>
          <a:solidFill>
            <a:srgbClr val="FFFCF7"/>
          </a:solidFill>
          <a:ln>
            <a:solidFill>
              <a:srgbClr val="D5C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698480" cy="4160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产品：定义 ICP、优先级、试点范围、成功标准和对外口径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研发：把记忆、推荐、capture、审批、导入和核心页面做稳，减少 demo-only 断点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设计：继续把产品体验从 demo 感往真实工作台拉近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销售 / BD：筛选设计合作伙伴、优化 demo、打磨一页纸和 PoC 方案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交付 / 客户成功：建立 onboarding、试点执行、问题回收和结项复盘机制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管理层：给清楚 owner、节奏和资源支持，不让项目线退回零散响应模式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C5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E76"/>
                </a:solidFill>
                <a:latin typeface="Aptos"/>
              </a:defRPr>
            </a:pPr>
            <a:r>
              <a:t>Helm Internal Kick Off | Internal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438912"/>
            <a:ext cx="1554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C5C66"/>
                </a:solidFill>
                <a:latin typeface="Aptos"/>
              </a:defRPr>
            </a:pPr>
            <a:r>
              <a:t>PROJECT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62E"/>
                </a:solidFill>
                <a:latin typeface="Aptos Display"/>
              </a:defRPr>
            </a:pPr>
            <a:r>
              <a:t>Kick Off 后要落下来的 5 个决定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914400" cy="54864"/>
          </a:xfrm>
          <a:prstGeom prst="rect">
            <a:avLst/>
          </a:prstGeom>
          <a:solidFill>
            <a:srgbClr val="AC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682496"/>
            <a:ext cx="10917936" cy="4389120"/>
          </a:xfrm>
          <a:prstGeom prst="roundRect">
            <a:avLst/>
          </a:prstGeom>
          <a:solidFill>
            <a:srgbClr val="FFFCF7"/>
          </a:solidFill>
          <a:ln>
            <a:solidFill>
              <a:srgbClr val="D5C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698480" cy="4160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明确 Helm 项目线 owner 和周节奏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明确下一阶段只打哪 1 到 2 个核心 ICP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明确设计合作伙伴 / 付费 PoC 的首批名单和筛选标准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明确未来 90 天的成功指标，例如周使用、action item 采纳、审批通过、试点续签意愿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明确内部单一口径：Helm 是经营分身控制台，不是 CRM 替代品，也不是泛 AI 助手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5440680"/>
            <a:ext cx="2560320" cy="566928"/>
          </a:xfrm>
          <a:prstGeom prst="roundRect">
            <a:avLst/>
          </a:prstGeom>
          <a:solidFill>
            <a:srgbClr val="0C5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会后要有 owner、有时间表、有指标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C5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E76"/>
                </a:solidFill>
                <a:latin typeface="Aptos"/>
              </a:defRPr>
            </a:pPr>
            <a:r>
              <a:t>Helm Internal Kick Off | Internal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438912"/>
            <a:ext cx="1554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C5C66"/>
                </a:solidFill>
                <a:latin typeface="Aptos"/>
              </a:defRPr>
            </a:pPr>
            <a:r>
              <a:t>PROJECT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62E"/>
                </a:solidFill>
                <a:latin typeface="Aptos Display"/>
              </a:defRPr>
            </a:pPr>
            <a:r>
              <a:t>Helm 要做的，是让团队更放心地把推进工作交给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914400" cy="54864"/>
          </a:xfrm>
          <a:prstGeom prst="rect">
            <a:avLst/>
          </a:prstGeom>
          <a:solidFill>
            <a:srgbClr val="AC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06E76"/>
                </a:solidFill>
                <a:latin typeface="Aptos"/>
              </a:defRPr>
            </a:pPr>
            <a:r>
              <a:t>先把高频经营闭环做扎实，再把它长成真正的可控行动代理控制层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1682496"/>
            <a:ext cx="10917936" cy="4389120"/>
          </a:xfrm>
          <a:prstGeom prst="roundRect">
            <a:avLst/>
          </a:prstGeom>
          <a:solidFill>
            <a:srgbClr val="FFFCF7"/>
          </a:solidFill>
          <a:ln>
            <a:solidFill>
              <a:srgbClr val="D5C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98480" cy="4160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谢谢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18262E"/>
                </a:solidFill>
                <a:latin typeface="Aptos"/>
              </a:defRPr>
            </a:pPr>
            <a:r>
              <a:t>•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